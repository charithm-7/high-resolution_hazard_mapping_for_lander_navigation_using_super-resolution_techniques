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77" r:id="rId3"/>
    <p:sldId id="269" r:id="rId4"/>
    <p:sldId id="274" r:id="rId5"/>
    <p:sldId id="278" r:id="rId6"/>
    <p:sldId id="280" r:id="rId7"/>
    <p:sldId id="271" r:id="rId8"/>
    <p:sldId id="273" r:id="rId9"/>
    <p:sldId id="272" r:id="rId10"/>
    <p:sldId id="268" r:id="rId11"/>
    <p:sldId id="270" r:id="rId12"/>
    <p:sldId id="265"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charithm-7/High-Resolution_Hazard_Mapping_for_Lander_Navigation_Using_Super-Resolution_Techniques"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t>Generation of Hazard Map at 1M grid Spacing using 5M spatial resolution data for Safely Navigating a Lander to a Safe Landing site using Super Resolution Techniques</a:t>
            </a:r>
            <a:endParaRPr lang="en-US"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371303" y="2513340"/>
            <a:ext cx="5623192" cy="1734195"/>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a:t>
            </a:r>
            <a:r>
              <a:rPr lang="en-GB" sz="1800" b="1" dirty="0">
                <a:solidFill>
                  <a:srgbClr val="17365D"/>
                </a:solidFill>
                <a:latin typeface="Cambria" panose="02040503050406030204" pitchFamily="18" charset="0"/>
                <a:ea typeface="Cambria" panose="02040503050406030204" pitchFamily="18" charset="0"/>
                <a:cs typeface="Verdana"/>
                <a:sym typeface="Verdana"/>
              </a:rPr>
              <a:t>Dr./Mr. </a:t>
            </a:r>
            <a:r>
              <a:rPr lang="en-IN" sz="1800" b="1" dirty="0">
                <a:solidFill>
                  <a:srgbClr val="17365D"/>
                </a:solidFill>
                <a:latin typeface="Cambria" panose="02040503050406030204" pitchFamily="18" charset="0"/>
                <a:ea typeface="Cambria" panose="02040503050406030204" pitchFamily="18" charset="0"/>
                <a:cs typeface="Verdana"/>
                <a:sym typeface="Verdana"/>
              </a:rPr>
              <a:t>Murali Parameswaran, Professor</a:t>
            </a:r>
            <a:endParaRPr lang="en-GB" sz="17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2576586" y="205319"/>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15248" y="4907526"/>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tx1"/>
                </a:solidFill>
                <a:latin typeface="Cambria" panose="02040503050406030204" pitchFamily="18" charset="0"/>
                <a:ea typeface="Cambria" panose="02040503050406030204" pitchFamily="18" charset="0"/>
                <a:cs typeface="Verdana"/>
                <a:sym typeface="Verdana"/>
              </a:rPr>
              <a:t>B.Tech(CSE-AIML)</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chemeClr val="tx1"/>
                </a:solidFill>
                <a:latin typeface="Cambria" panose="02040503050406030204" pitchFamily="18" charset="0"/>
                <a:ea typeface="Cambria" panose="02040503050406030204" pitchFamily="18" charset="0"/>
                <a:cs typeface="Verdana"/>
                <a:sym typeface="Verdana"/>
              </a:rPr>
              <a:t>Dr. Zafar Ali Khan N</a:t>
            </a:r>
            <a:r>
              <a:rPr lang="en-IN" sz="1800" b="1" dirty="0">
                <a:latin typeface="Cambria" panose="02040503050406030204" pitchFamily="18" charset="0"/>
                <a:ea typeface="Cambria" panose="02040503050406030204" pitchFamily="18" charset="0"/>
              </a:rPr>
              <a:t> </a:t>
            </a:r>
          </a:p>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chemeClr val="tx1"/>
                </a:solidFill>
                <a:latin typeface="Cambria" panose="02040503050406030204" pitchFamily="18" charset="0"/>
                <a:ea typeface="Cambria" panose="02040503050406030204" pitchFamily="18" charset="0"/>
                <a:cs typeface="Verdana"/>
                <a:sym typeface="Verdana"/>
              </a:rPr>
              <a:t>Ms. Suma N G</a:t>
            </a:r>
            <a:r>
              <a:rPr lang="en-IN" sz="1800" b="1" dirty="0">
                <a:latin typeface="Cambria" panose="02040503050406030204" pitchFamily="18" charset="0"/>
                <a:ea typeface="Cambria" panose="02040503050406030204" pitchFamily="18" charset="0"/>
              </a:rPr>
              <a:t>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2" name="TextBox 1">
            <a:extLst>
              <a:ext uri="{FF2B5EF4-FFF2-40B4-BE49-F238E27FC236}">
                <a16:creationId xmlns:a16="http://schemas.microsoft.com/office/drawing/2014/main" id="{D1BB6114-7FF1-25CE-9A45-739A5A3D0E9C}"/>
              </a:ext>
            </a:extLst>
          </p:cNvPr>
          <p:cNvSpPr txBox="1"/>
          <p:nvPr/>
        </p:nvSpPr>
        <p:spPr>
          <a:xfrm>
            <a:off x="2438400" y="2081401"/>
            <a:ext cx="1818968" cy="307777"/>
          </a:xfrm>
          <a:prstGeom prst="rect">
            <a:avLst/>
          </a:prstGeom>
          <a:noFill/>
        </p:spPr>
        <p:txBody>
          <a:bodyPr wrap="square" rtlCol="0">
            <a:spAutoFit/>
          </a:bodyPr>
          <a:lstStyle/>
          <a:p>
            <a:r>
              <a:rPr lang="en-IN" dirty="0"/>
              <a:t>CAI_1</a:t>
            </a:r>
          </a:p>
        </p:txBody>
      </p:sp>
      <p:graphicFrame>
        <p:nvGraphicFramePr>
          <p:cNvPr id="3" name="Table 2">
            <a:extLst>
              <a:ext uri="{FF2B5EF4-FFF2-40B4-BE49-F238E27FC236}">
                <a16:creationId xmlns:a16="http://schemas.microsoft.com/office/drawing/2014/main" id="{DA7120EB-1881-AEBF-8053-AA656EA09783}"/>
              </a:ext>
            </a:extLst>
          </p:cNvPr>
          <p:cNvGraphicFramePr>
            <a:graphicFrameLocks noGrp="1"/>
          </p:cNvGraphicFramePr>
          <p:nvPr>
            <p:extLst>
              <p:ext uri="{D42A27DB-BD31-4B8C-83A1-F6EECF244321}">
                <p14:modId xmlns:p14="http://schemas.microsoft.com/office/powerpoint/2010/main" val="4267364059"/>
              </p:ext>
            </p:extLst>
          </p:nvPr>
        </p:nvGraphicFramePr>
        <p:xfrm>
          <a:off x="197505" y="2513340"/>
          <a:ext cx="6173798" cy="2007669"/>
        </p:xfrm>
        <a:graphic>
          <a:graphicData uri="http://schemas.openxmlformats.org/drawingml/2006/table">
            <a:tbl>
              <a:tblPr firstRow="1" bandRow="1">
                <a:tableStyleId>{3B4B98B0-60AC-42C2-AFA5-B58CD77FA1E5}</a:tableStyleId>
              </a:tblPr>
              <a:tblGrid>
                <a:gridCol w="3322443">
                  <a:extLst>
                    <a:ext uri="{9D8B030D-6E8A-4147-A177-3AD203B41FA5}">
                      <a16:colId xmlns:a16="http://schemas.microsoft.com/office/drawing/2014/main" val="2966578058"/>
                    </a:ext>
                  </a:extLst>
                </a:gridCol>
                <a:gridCol w="2851355">
                  <a:extLst>
                    <a:ext uri="{9D8B030D-6E8A-4147-A177-3AD203B41FA5}">
                      <a16:colId xmlns:a16="http://schemas.microsoft.com/office/drawing/2014/main" val="2529794697"/>
                    </a:ext>
                  </a:extLst>
                </a:gridCol>
              </a:tblGrid>
              <a:tr h="58382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800" b="1" u="none" strike="noStrike" cap="none" dirty="0">
                          <a:solidFill>
                            <a:srgbClr val="17365D"/>
                          </a:solidFill>
                          <a:latin typeface="Cambria" panose="02040503050406030204" pitchFamily="18" charset="0"/>
                          <a:ea typeface="Cambria" panose="02040503050406030204" pitchFamily="18" charset="0"/>
                        </a:rPr>
                        <a:t>       Roll Number</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800" b="1" u="none" strike="noStrike" cap="none" dirty="0">
                          <a:solidFill>
                            <a:srgbClr val="17365D"/>
                          </a:solidFill>
                          <a:latin typeface="Cambria" panose="02040503050406030204" pitchFamily="18" charset="0"/>
                          <a:ea typeface="Cambria" panose="02040503050406030204" pitchFamily="18" charset="0"/>
                        </a:rPr>
                        <a:t>Student</a:t>
                      </a:r>
                      <a:r>
                        <a:rPr lang="en-GB" sz="1800" b="1" u="none" strike="noStrike" cap="none" dirty="0">
                          <a:solidFill>
                            <a:srgbClr val="17365D"/>
                          </a:solidFill>
                        </a:rPr>
                        <a:t> </a:t>
                      </a:r>
                      <a:r>
                        <a:rPr lang="en-GB" sz="1800" b="1" u="none" strike="noStrike" cap="none" dirty="0">
                          <a:solidFill>
                            <a:srgbClr val="17365D"/>
                          </a:solidFill>
                          <a:latin typeface="Cambria" panose="02040503050406030204" pitchFamily="18" charset="0"/>
                          <a:ea typeface="Cambria" panose="02040503050406030204" pitchFamily="18" charset="0"/>
                        </a:rPr>
                        <a:t>Name</a:t>
                      </a:r>
                    </a:p>
                    <a:p>
                      <a:endParaRPr lang="en-IN" sz="1800" dirty="0"/>
                    </a:p>
                  </a:txBody>
                  <a:tcPr/>
                </a:tc>
                <a:extLst>
                  <a:ext uri="{0D108BD9-81ED-4DB2-BD59-A6C34878D82A}">
                    <a16:rowId xmlns:a16="http://schemas.microsoft.com/office/drawing/2014/main" val="722542226"/>
                  </a:ext>
                </a:extLst>
              </a:tr>
              <a:tr h="455863">
                <a:tc>
                  <a:txBody>
                    <a:bodyPr/>
                    <a:lstStyle/>
                    <a:p>
                      <a:r>
                        <a:rPr lang="en-IN" dirty="0"/>
                        <a:t>        20221CAI0104</a:t>
                      </a:r>
                    </a:p>
                  </a:txBody>
                  <a:tcPr/>
                </a:tc>
                <a:tc>
                  <a:txBody>
                    <a:bodyPr/>
                    <a:lstStyle/>
                    <a:p>
                      <a:r>
                        <a:rPr lang="en-IN" dirty="0"/>
                        <a:t>M CHARITH SAI KRISHNA</a:t>
                      </a:r>
                    </a:p>
                  </a:txBody>
                  <a:tcPr/>
                </a:tc>
                <a:extLst>
                  <a:ext uri="{0D108BD9-81ED-4DB2-BD59-A6C34878D82A}">
                    <a16:rowId xmlns:a16="http://schemas.microsoft.com/office/drawing/2014/main" val="1662179866"/>
                  </a:ext>
                </a:extLst>
              </a:tr>
              <a:tr h="455863">
                <a:tc>
                  <a:txBody>
                    <a:bodyPr/>
                    <a:lstStyle/>
                    <a:p>
                      <a:r>
                        <a:rPr lang="en-IN" dirty="0"/>
                        <a:t>        20221CAI0106</a:t>
                      </a:r>
                    </a:p>
                  </a:txBody>
                  <a:tcPr/>
                </a:tc>
                <a:tc>
                  <a:txBody>
                    <a:bodyPr/>
                    <a:lstStyle/>
                    <a:p>
                      <a:r>
                        <a:rPr lang="en-IN" dirty="0"/>
                        <a:t>KOLLAM SUSHANTH</a:t>
                      </a:r>
                    </a:p>
                  </a:txBody>
                  <a:tcPr/>
                </a:tc>
                <a:extLst>
                  <a:ext uri="{0D108BD9-81ED-4DB2-BD59-A6C34878D82A}">
                    <a16:rowId xmlns:a16="http://schemas.microsoft.com/office/drawing/2014/main" val="2091903218"/>
                  </a:ext>
                </a:extLst>
              </a:tr>
              <a:tr h="455863">
                <a:tc>
                  <a:txBody>
                    <a:bodyPr/>
                    <a:lstStyle/>
                    <a:p>
                      <a:r>
                        <a:rPr lang="en-IN" dirty="0"/>
                        <a:t>        20221CAI0107</a:t>
                      </a:r>
                    </a:p>
                  </a:txBody>
                  <a:tcPr/>
                </a:tc>
                <a:tc>
                  <a:txBody>
                    <a:bodyPr/>
                    <a:lstStyle/>
                    <a:p>
                      <a:r>
                        <a:rPr lang="en-IN" dirty="0"/>
                        <a:t>DUDEKULA CHAMAN</a:t>
                      </a:r>
                    </a:p>
                  </a:txBody>
                  <a:tcPr/>
                </a:tc>
                <a:extLst>
                  <a:ext uri="{0D108BD9-81ED-4DB2-BD59-A6C34878D82A}">
                    <a16:rowId xmlns:a16="http://schemas.microsoft.com/office/drawing/2014/main" val="3883383061"/>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Number: </a:t>
            </a:r>
            <a:r>
              <a:rPr lang="en-IN" dirty="0">
                <a:latin typeface="Cambria" panose="02040503050406030204" pitchFamily="18" charset="0"/>
                <a:ea typeface="Cambria" panose="02040503050406030204" pitchFamily="18" charset="0"/>
              </a:rPr>
              <a:t>PSCS_174</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1133394" cy="4953000"/>
          </a:xfrm>
          <a:prstGeom prst="rect">
            <a:avLst/>
          </a:prstGeom>
          <a:noFill/>
          <a:ln>
            <a:noFill/>
          </a:ln>
        </p:spPr>
        <p:txBody>
          <a:bodyPr spcFirstLastPara="1" wrap="square" lIns="91425" tIns="45700" rIns="91425" bIns="45700" anchor="t" anchorCtr="0">
            <a:normAutofit fontScale="85000" lnSpcReduction="1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 </a:t>
            </a:r>
            <a:r>
              <a:rPr lang="en-US" dirty="0">
                <a:latin typeface="Cambria" panose="02040503050406030204" pitchFamily="18" charset="0"/>
                <a:ea typeface="Cambria" panose="02040503050406030204" pitchFamily="18" charset="0"/>
              </a:rPr>
              <a:t>Indian Space Research </a:t>
            </a:r>
            <a:r>
              <a:rPr lang="en-US" dirty="0" err="1">
                <a:latin typeface="Cambria" panose="02040503050406030204" pitchFamily="18" charset="0"/>
                <a:ea typeface="Cambria" panose="02040503050406030204" pitchFamily="18" charset="0"/>
              </a:rPr>
              <a:t>Organisation</a:t>
            </a:r>
            <a:r>
              <a:rPr lang="en-US" dirty="0">
                <a:latin typeface="Cambria" panose="02040503050406030204" pitchFamily="18" charset="0"/>
                <a:ea typeface="Cambria" panose="02040503050406030204" pitchFamily="18" charset="0"/>
              </a:rPr>
              <a:t> (ISRO)</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 </a:t>
            </a:r>
            <a:r>
              <a:rPr lang="en-US" dirty="0">
                <a:latin typeface="Cambria" panose="02040503050406030204" pitchFamily="18" charset="0"/>
                <a:ea typeface="Cambria" panose="02040503050406030204" pitchFamily="18" charset="0"/>
              </a:rPr>
              <a:t>Software</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a:t>
            </a:r>
          </a:p>
          <a:p>
            <a:pPr marL="342900" lvl="0" indent="-190500" algn="just">
              <a:lnSpc>
                <a:spcPct val="200000"/>
              </a:lnSpc>
              <a:spcBef>
                <a:spcPts val="0"/>
              </a:spcBef>
              <a:buNone/>
            </a:pPr>
            <a:r>
              <a:rPr lang="en-US" sz="2200"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We have TMC images of nearly 80% area of the moon at 5m resolution while OHRC data at 25cm resolution have very limited coverage. Due to limited coverage of OHRC, there are constraints to land at any place on the moon's surface. Hence, a problem has been defined to create hazard map using super resolution techniques from TMC 5m images considering the hazard definitions (like Slope 10-degree, Crater / Boulder depth/height – 1m, Crater distribution, shadow etc.) for safely navigating a Lander. This challenge includes the showcasing of lander navigation techniques for safe landing considering reference as TMC 5m datasets in near real time. </a:t>
            </a:r>
            <a:endParaRPr lang="en-US"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IN" dirty="0">
                <a:latin typeface="Cambria" panose="02040503050406030204" pitchFamily="18" charset="0"/>
                <a:ea typeface="Cambria" panose="02040503050406030204" pitchFamily="18" charset="0"/>
              </a:rPr>
              <a:t>Objectives:</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070265"/>
            <a:ext cx="10668000" cy="4810990"/>
          </a:xfrm>
          <a:prstGeom prst="rect">
            <a:avLst/>
          </a:prstGeom>
          <a:noFill/>
          <a:ln>
            <a:noFill/>
          </a:ln>
        </p:spPr>
        <p:txBody>
          <a:bodyPr spcFirstLastPara="1" wrap="square" lIns="91425" tIns="45700" rIns="91425" bIns="45700" anchor="t" anchorCtr="0">
            <a:normAutofit/>
          </a:bodyPr>
          <a:lstStyle/>
          <a:p>
            <a:pPr marL="152400" lvl="0" indent="0" algn="just" rtl="0">
              <a:lnSpc>
                <a:spcPct val="200000"/>
              </a:lnSpc>
              <a:spcBef>
                <a:spcPts val="0"/>
              </a:spcBef>
              <a:spcAft>
                <a:spcPts val="0"/>
              </a:spcAft>
              <a:buClr>
                <a:schemeClr val="dk1"/>
              </a:buClr>
              <a:buSzPts val="2400"/>
              <a:buNone/>
            </a:pPr>
            <a:r>
              <a:rPr lang="en-US" dirty="0">
                <a:latin typeface="Cambria" panose="02040503050406030204" pitchFamily="18" charset="0"/>
                <a:ea typeface="Cambria" panose="02040503050406030204" pitchFamily="18" charset="0"/>
              </a:rPr>
              <a:t> </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3A06FA59-24D9-3841-0FD2-5F929838EDE3}"/>
              </a:ext>
            </a:extLst>
          </p:cNvPr>
          <p:cNvSpPr txBox="1"/>
          <p:nvPr/>
        </p:nvSpPr>
        <p:spPr>
          <a:xfrm>
            <a:off x="226024" y="1238753"/>
            <a:ext cx="11463749" cy="4524315"/>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To generate a hazard map at 1 m grid spacing using 5 m spatial resolution HiRISE stereo data.</a:t>
            </a:r>
          </a:p>
          <a:p>
            <a:pPr algn="just"/>
            <a:endParaRPr lang="en-US" sz="2400" dirty="0"/>
          </a:p>
          <a:p>
            <a:pPr marL="342900" indent="-342900" algn="just">
              <a:buFont typeface="Arial" panose="020B0604020202020204" pitchFamily="34" charset="0"/>
              <a:buChar char="•"/>
            </a:pPr>
            <a:r>
              <a:rPr lang="en-US" sz="2400" dirty="0"/>
              <a:t>To apply super-resolution techniques to enhance terrain detail and capture smaller surface hazards.</a:t>
            </a:r>
          </a:p>
          <a:p>
            <a:pPr algn="just"/>
            <a:endParaRPr lang="en-US" sz="2400" dirty="0"/>
          </a:p>
          <a:p>
            <a:pPr marL="342900" indent="-342900" algn="just">
              <a:buFont typeface="Arial" panose="020B0604020202020204" pitchFamily="34" charset="0"/>
              <a:buChar char="•"/>
            </a:pPr>
            <a:r>
              <a:rPr lang="en-US" sz="2400" dirty="0"/>
              <a:t>To support safe landing site selection for planetary landers by providing detailed hazard information.</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a:t>To demonstrate the potential of AI-based image enhancement in planetary science applications.</a:t>
            </a:r>
          </a:p>
          <a:p>
            <a:endParaRPr lang="en-IN" sz="2400" dirty="0"/>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A0F7F-774D-2B9F-D37A-5C6A7BC8A503}"/>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Objectives:   (contd…) </a:t>
            </a:r>
            <a:endParaRPr lang="en-IN" dirty="0"/>
          </a:p>
        </p:txBody>
      </p:sp>
      <p:sp>
        <p:nvSpPr>
          <p:cNvPr id="3" name="Text Placeholder 2">
            <a:extLst>
              <a:ext uri="{FF2B5EF4-FFF2-40B4-BE49-F238E27FC236}">
                <a16:creationId xmlns:a16="http://schemas.microsoft.com/office/drawing/2014/main" id="{DAD03C8A-9CDE-45ED-F05B-ABD951CDC441}"/>
              </a:ext>
            </a:extLst>
          </p:cNvPr>
          <p:cNvSpPr>
            <a:spLocks noGrp="1"/>
          </p:cNvSpPr>
          <p:nvPr>
            <p:ph type="body" idx="1"/>
          </p:nvPr>
        </p:nvSpPr>
        <p:spPr>
          <a:xfrm>
            <a:off x="186813" y="1172496"/>
            <a:ext cx="11759381" cy="4776019"/>
          </a:xfrm>
        </p:spPr>
        <p:txBody>
          <a:bodyPr/>
          <a:lstStyle/>
          <a:p>
            <a:r>
              <a:rPr lang="en-US" b="1" dirty="0">
                <a:latin typeface="+mn-lt"/>
              </a:rPr>
              <a:t>Data Acquisition &amp; Preprocessing</a:t>
            </a:r>
            <a:r>
              <a:rPr lang="en-US" dirty="0">
                <a:latin typeface="+mn-lt"/>
              </a:rPr>
              <a:t>: Download and preprocess HiRISE DEMs and orthoimages from multiple regions of Mars.</a:t>
            </a:r>
            <a:endParaRPr lang="en-IN" dirty="0">
              <a:latin typeface="+mn-lt"/>
              <a:ea typeface="Cambria" panose="02040503050406030204" pitchFamily="18" charset="0"/>
            </a:endParaRPr>
          </a:p>
          <a:p>
            <a:r>
              <a:rPr lang="en-US" b="1" dirty="0">
                <a:latin typeface="+mn-lt"/>
              </a:rPr>
              <a:t>Super-Resolution Implementation</a:t>
            </a:r>
            <a:r>
              <a:rPr lang="en-US" dirty="0">
                <a:latin typeface="+mn-lt"/>
              </a:rPr>
              <a:t>: Train and apply deep learning models to upscale DTMs from 5 m → 1 m resolution.</a:t>
            </a:r>
          </a:p>
          <a:p>
            <a:r>
              <a:rPr lang="en-US" b="1" dirty="0">
                <a:latin typeface="+mn-lt"/>
              </a:rPr>
              <a:t>Hazard Feature Extraction</a:t>
            </a:r>
            <a:r>
              <a:rPr lang="en-US" dirty="0">
                <a:latin typeface="+mn-lt"/>
              </a:rPr>
              <a:t>: Detect and classify hazardous terrain features such as craters, slopes, boulders, and rough surfaces.</a:t>
            </a:r>
          </a:p>
          <a:p>
            <a:r>
              <a:rPr lang="en-US" b="1" dirty="0">
                <a:latin typeface="+mn-lt"/>
              </a:rPr>
              <a:t>Hazard Map Generation</a:t>
            </a:r>
            <a:r>
              <a:rPr lang="en-US" dirty="0">
                <a:latin typeface="+mn-lt"/>
              </a:rPr>
              <a:t>: Create high-resolution hazard maps showing safe vs unsafe landing zones.</a:t>
            </a:r>
          </a:p>
          <a:p>
            <a:r>
              <a:rPr lang="en-US" b="1" dirty="0">
                <a:latin typeface="+mn-lt"/>
              </a:rPr>
              <a:t>Validation &amp; Evaluation</a:t>
            </a:r>
            <a:r>
              <a:rPr lang="en-US" dirty="0">
                <a:latin typeface="+mn-lt"/>
              </a:rPr>
              <a:t>: Compare the generated hazard maps with known landing sites (Curiosity, Perseverance, </a:t>
            </a:r>
            <a:r>
              <a:rPr lang="en-US" dirty="0" err="1">
                <a:latin typeface="+mn-lt"/>
              </a:rPr>
              <a:t>InSight</a:t>
            </a:r>
            <a:r>
              <a:rPr lang="en-US" dirty="0">
                <a:latin typeface="+mn-lt"/>
              </a:rPr>
              <a:t>) and existing research.</a:t>
            </a:r>
            <a:endParaRPr lang="en-IN" dirty="0">
              <a:latin typeface="+mn-lt"/>
            </a:endParaRPr>
          </a:p>
        </p:txBody>
      </p:sp>
    </p:spTree>
    <p:extLst>
      <p:ext uri="{BB962C8B-B14F-4D97-AF65-F5344CB8AC3E}">
        <p14:creationId xmlns:p14="http://schemas.microsoft.com/office/powerpoint/2010/main" val="4255512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655819" y="646405"/>
            <a:ext cx="10668000" cy="496595"/>
          </a:xfrm>
          <a:prstGeom prst="rect">
            <a:avLst/>
          </a:prstGeom>
          <a:noFill/>
          <a:ln>
            <a:noFill/>
          </a:ln>
        </p:spPr>
        <p:txBody>
          <a:bodyPr spcFirstLastPara="1" wrap="square" lIns="91425" tIns="45700" rIns="91425" bIns="45700" anchor="ctr" anchorCtr="0">
            <a:noAutofit/>
          </a:bodyPr>
          <a:lstStyle/>
          <a:p>
            <a:pPr marL="152400">
              <a:lnSpc>
                <a:spcPct val="200000"/>
              </a:lnSpc>
            </a:pPr>
            <a:r>
              <a:rPr lang="en-US" dirty="0">
                <a:latin typeface="Cambria" panose="02040503050406030204" pitchFamily="18" charset="0"/>
                <a:ea typeface="Cambria" panose="02040503050406030204" pitchFamily="18" charset="0"/>
              </a:rPr>
              <a:t>Background and Related work:</a:t>
            </a:r>
            <a:br>
              <a:rPr lang="en-US" dirty="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186813" y="1143000"/>
            <a:ext cx="11769213" cy="4953000"/>
          </a:xfrm>
          <a:prstGeom prst="rect">
            <a:avLst/>
          </a:prstGeom>
          <a:noFill/>
          <a:ln>
            <a:noFill/>
          </a:ln>
        </p:spPr>
        <p:txBody>
          <a:bodyPr spcFirstLastPara="1" wrap="square" lIns="91425" tIns="45700" rIns="91425" bIns="45700" anchor="t" anchorCtr="0">
            <a:normAutofit/>
          </a:bodyPr>
          <a:lstStyle/>
          <a:p>
            <a:pPr marL="342900" indent="-342900" eaLnBrk="0" fontAlgn="base" hangingPunct="0">
              <a:spcBef>
                <a:spcPct val="0"/>
              </a:spcBef>
              <a:spcAft>
                <a:spcPct val="0"/>
              </a:spcAft>
              <a:buClrTx/>
              <a:buSzTx/>
            </a:pPr>
            <a:r>
              <a:rPr lang="en-US" dirty="0">
                <a:latin typeface="+mn-lt"/>
                <a:ea typeface="Verdana" panose="020B0604030504040204" pitchFamily="34" charset="0"/>
              </a:rPr>
              <a:t>HiRISE on Mars Reconnaissance Orbiter provides stereo imagery + DTMs at high resolution.</a:t>
            </a:r>
          </a:p>
          <a:p>
            <a:pPr marL="0" indent="0" eaLnBrk="0" fontAlgn="base" hangingPunct="0">
              <a:spcBef>
                <a:spcPct val="0"/>
              </a:spcBef>
              <a:spcAft>
                <a:spcPct val="0"/>
              </a:spcAft>
              <a:buClrTx/>
              <a:buSzTx/>
              <a:buNone/>
            </a:pPr>
            <a:endParaRPr lang="en-US" altLang="en-US" dirty="0">
              <a:solidFill>
                <a:schemeClr val="tx1"/>
              </a:solidFill>
              <a:latin typeface="+mn-lt"/>
              <a:ea typeface="Verdana" panose="020B0604030504040204" pitchFamily="34" charset="0"/>
            </a:endParaRPr>
          </a:p>
          <a:p>
            <a:pPr marL="342900" indent="-342900" eaLnBrk="0" fontAlgn="base" hangingPunct="0">
              <a:spcBef>
                <a:spcPct val="0"/>
              </a:spcBef>
              <a:spcAft>
                <a:spcPct val="0"/>
              </a:spcAft>
              <a:buClrTx/>
              <a:buSzTx/>
            </a:pPr>
            <a:r>
              <a:rPr lang="en-US" dirty="0">
                <a:latin typeface="+mn-lt"/>
                <a:ea typeface="Verdana" panose="020B0604030504040204" pitchFamily="34" charset="0"/>
              </a:rPr>
              <a:t>Previous missions (Curiosity, Perseverance, </a:t>
            </a:r>
            <a:r>
              <a:rPr lang="en-US" dirty="0" err="1">
                <a:latin typeface="+mn-lt"/>
                <a:ea typeface="Verdana" panose="020B0604030504040204" pitchFamily="34" charset="0"/>
              </a:rPr>
              <a:t>InSight</a:t>
            </a:r>
            <a:r>
              <a:rPr lang="en-US" dirty="0">
                <a:latin typeface="+mn-lt"/>
                <a:ea typeface="Verdana" panose="020B0604030504040204" pitchFamily="34" charset="0"/>
              </a:rPr>
              <a:t>) relied on hazard maps &amp; terrain analysis for site selection.</a:t>
            </a:r>
          </a:p>
          <a:p>
            <a:pPr marL="342900" indent="-342900" eaLnBrk="0" fontAlgn="base" hangingPunct="0">
              <a:spcBef>
                <a:spcPct val="0"/>
              </a:spcBef>
              <a:spcAft>
                <a:spcPct val="0"/>
              </a:spcAft>
              <a:buClrTx/>
              <a:buSzTx/>
            </a:pPr>
            <a:endParaRPr lang="en-US" dirty="0">
              <a:latin typeface="+mn-lt"/>
              <a:ea typeface="Verdana" panose="020B0604030504040204" pitchFamily="34" charset="0"/>
            </a:endParaRPr>
          </a:p>
          <a:p>
            <a:pPr marL="342900" indent="-342900" eaLnBrk="0" fontAlgn="base" hangingPunct="0">
              <a:spcBef>
                <a:spcPct val="0"/>
              </a:spcBef>
              <a:spcAft>
                <a:spcPct val="0"/>
              </a:spcAft>
              <a:buClrTx/>
              <a:buSzTx/>
            </a:pPr>
            <a:r>
              <a:rPr lang="en-US" dirty="0">
                <a:latin typeface="+mn-lt"/>
                <a:ea typeface="Verdana" panose="020B0604030504040204" pitchFamily="34" charset="0"/>
              </a:rPr>
              <a:t>NASA/JPL uses terrain-relative navigation but still needs high-quality DTMs.</a:t>
            </a:r>
          </a:p>
          <a:p>
            <a:pPr marL="342900" indent="-342900" eaLnBrk="0" fontAlgn="base" hangingPunct="0">
              <a:spcBef>
                <a:spcPct val="0"/>
              </a:spcBef>
              <a:spcAft>
                <a:spcPct val="0"/>
              </a:spcAft>
              <a:buClrTx/>
              <a:buSzTx/>
            </a:pPr>
            <a:endParaRPr lang="en-US" dirty="0">
              <a:latin typeface="+mn-lt"/>
              <a:ea typeface="Verdana" panose="020B0604030504040204" pitchFamily="34" charset="0"/>
            </a:endParaRPr>
          </a:p>
          <a:p>
            <a:pPr marL="342900" indent="-342900" eaLnBrk="0" fontAlgn="base" hangingPunct="0">
              <a:spcBef>
                <a:spcPct val="0"/>
              </a:spcBef>
              <a:spcAft>
                <a:spcPct val="0"/>
              </a:spcAft>
              <a:buClrTx/>
              <a:buSzTx/>
            </a:pPr>
            <a:r>
              <a:rPr lang="en-US" b="1" dirty="0">
                <a:latin typeface="+mn-lt"/>
                <a:ea typeface="Verdana" panose="020B0604030504040204" pitchFamily="34" charset="0"/>
              </a:rPr>
              <a:t>Research gap</a:t>
            </a:r>
            <a:r>
              <a:rPr lang="en-US" dirty="0">
                <a:latin typeface="+mn-lt"/>
                <a:ea typeface="Verdana" panose="020B0604030504040204" pitchFamily="34" charset="0"/>
              </a:rPr>
              <a:t>: Many areas of Mars have only 5 m data → need for artificial enhancement (super-resolution).</a:t>
            </a:r>
          </a:p>
          <a:p>
            <a:pPr marL="0" indent="0" eaLnBrk="0" fontAlgn="base" hangingPunct="0">
              <a:spcBef>
                <a:spcPct val="0"/>
              </a:spcBef>
              <a:spcAft>
                <a:spcPct val="0"/>
              </a:spcAft>
              <a:buClrTx/>
              <a:buSzTx/>
              <a:buNone/>
            </a:pPr>
            <a:endParaRPr lang="en-US" dirty="0">
              <a:latin typeface="+mn-lt"/>
              <a:ea typeface="Cambria" panose="02040503050406030204" pitchFamily="18" charset="0"/>
            </a:endParaRPr>
          </a:p>
          <a:p>
            <a:pPr marL="342900" indent="-342900" eaLnBrk="0" fontAlgn="base" hangingPunct="0">
              <a:spcBef>
                <a:spcPct val="0"/>
              </a:spcBef>
              <a:spcAft>
                <a:spcPct val="0"/>
              </a:spcAft>
              <a:buClrTx/>
              <a:buSzTx/>
            </a:pPr>
            <a:r>
              <a:rPr lang="en-US" dirty="0">
                <a:latin typeface="+mn-lt"/>
              </a:rPr>
              <a:t>Your project builds on this gap to generate high-res hazard maps.</a:t>
            </a:r>
            <a:endParaRPr lang="en-US" altLang="en-US" dirty="0">
              <a:solidFill>
                <a:schemeClr val="tx1"/>
              </a:solidFill>
              <a:latin typeface="+mn-lt"/>
              <a:ea typeface="Verdana" panose="020B0604030504040204" pitchFamily="34" charset="0"/>
            </a:endParaRPr>
          </a:p>
        </p:txBody>
      </p:sp>
    </p:spTree>
    <p:extLst>
      <p:ext uri="{BB962C8B-B14F-4D97-AF65-F5344CB8AC3E}">
        <p14:creationId xmlns:p14="http://schemas.microsoft.com/office/powerpoint/2010/main" val="3367911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688109" y="274500"/>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Cambria" panose="02040503050406030204" pitchFamily="18" charset="0"/>
                <a:ea typeface="Cambria" panose="02040503050406030204" pitchFamily="18" charset="0"/>
              </a:rPr>
              <a:t>Innovation or Novel Contributions</a:t>
            </a:r>
            <a:endParaRPr lang="en-US" sz="3600"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245805" y="1251152"/>
            <a:ext cx="11661059" cy="4953000"/>
          </a:xfrm>
          <a:prstGeom prst="rect">
            <a:avLst/>
          </a:prstGeom>
          <a:noFill/>
          <a:ln>
            <a:noFill/>
          </a:ln>
        </p:spPr>
        <p:txBody>
          <a:bodyPr spcFirstLastPara="1" wrap="square" lIns="91425" tIns="45700" rIns="91425" bIns="45700" anchor="t" anchorCtr="0">
            <a:normAutofit/>
          </a:bodyPr>
          <a:lstStyle/>
          <a:p>
            <a:pPr marL="342900" indent="-342900" algn="just" eaLnBrk="0" fontAlgn="base" hangingPunct="0">
              <a:spcBef>
                <a:spcPct val="0"/>
              </a:spcBef>
              <a:spcAft>
                <a:spcPct val="0"/>
              </a:spcAft>
              <a:buClrTx/>
              <a:buSzTx/>
            </a:pPr>
            <a:r>
              <a:rPr lang="en-US" b="1" dirty="0">
                <a:latin typeface="Sitka Small" pitchFamily="2" charset="0"/>
              </a:rPr>
              <a:t>First-of-its-kind approach</a:t>
            </a:r>
            <a:r>
              <a:rPr lang="en-US" dirty="0">
                <a:latin typeface="Sitka Small" pitchFamily="2" charset="0"/>
              </a:rPr>
              <a:t>: Application of deep learning–based super-resolution on Mars HiRISE DTMs to enhance terrain details from 5 m → 1 m.</a:t>
            </a:r>
          </a:p>
          <a:p>
            <a:pPr marL="342900" indent="-342900" eaLnBrk="0" fontAlgn="base" hangingPunct="0">
              <a:spcBef>
                <a:spcPct val="0"/>
              </a:spcBef>
              <a:spcAft>
                <a:spcPct val="0"/>
              </a:spcAft>
              <a:buClrTx/>
              <a:buSzTx/>
            </a:pPr>
            <a:r>
              <a:rPr lang="en-US" b="1" dirty="0">
                <a:latin typeface="Sitka Small" pitchFamily="2" charset="0"/>
              </a:rPr>
              <a:t>Improved hazard detection</a:t>
            </a:r>
            <a:r>
              <a:rPr lang="en-US" dirty="0">
                <a:latin typeface="Sitka Small" pitchFamily="2" charset="0"/>
              </a:rPr>
              <a:t>: Enables identification of smaller hazards (rocks, slopes, roughness) that are invisible in lower-resolution data.</a:t>
            </a:r>
          </a:p>
          <a:p>
            <a:pPr marL="342900" indent="-342900" algn="just" eaLnBrk="0" fontAlgn="base" hangingPunct="0">
              <a:spcBef>
                <a:spcPct val="0"/>
              </a:spcBef>
              <a:spcAft>
                <a:spcPct val="0"/>
              </a:spcAft>
              <a:buClrTx/>
              <a:buSzTx/>
            </a:pPr>
            <a:r>
              <a:rPr lang="en-US" b="1" dirty="0">
                <a:latin typeface="Sitka Small" pitchFamily="2" charset="0"/>
              </a:rPr>
              <a:t>Data-efficient solution</a:t>
            </a:r>
            <a:r>
              <a:rPr lang="en-US" dirty="0">
                <a:latin typeface="Sitka Small" pitchFamily="2" charset="0"/>
              </a:rPr>
              <a:t>: Reduces dependency on new high-resolution acquisitions by maximizing the value of existing 5 m datasets.</a:t>
            </a:r>
          </a:p>
          <a:p>
            <a:pPr marL="342900" indent="-342900" algn="just" eaLnBrk="0" fontAlgn="base" hangingPunct="0">
              <a:spcBef>
                <a:spcPct val="0"/>
              </a:spcBef>
              <a:spcAft>
                <a:spcPct val="0"/>
              </a:spcAft>
              <a:buClrTx/>
              <a:buSzTx/>
            </a:pPr>
            <a:r>
              <a:rPr lang="en-US" b="1" dirty="0">
                <a:latin typeface="Sitka Small" pitchFamily="2" charset="0"/>
              </a:rPr>
              <a:t>Scalable methodology</a:t>
            </a:r>
            <a:r>
              <a:rPr lang="en-US" dirty="0">
                <a:latin typeface="Sitka Small" pitchFamily="2" charset="0"/>
              </a:rPr>
              <a:t>: Can be extended to other planetary surfaces (Moon, asteroids) for future exploration missions.</a:t>
            </a:r>
          </a:p>
          <a:p>
            <a:pPr marL="342900" indent="-342900" algn="just" eaLnBrk="0" fontAlgn="base" hangingPunct="0">
              <a:spcBef>
                <a:spcPct val="0"/>
              </a:spcBef>
              <a:spcAft>
                <a:spcPct val="0"/>
              </a:spcAft>
              <a:buClrTx/>
              <a:buSzTx/>
            </a:pPr>
            <a:r>
              <a:rPr lang="en-US" b="1" dirty="0">
                <a:latin typeface="Sitka Small" pitchFamily="2" charset="0"/>
              </a:rPr>
              <a:t>Supports autonomous landing</a:t>
            </a:r>
            <a:r>
              <a:rPr lang="en-US" dirty="0">
                <a:latin typeface="Sitka Small" pitchFamily="2" charset="0"/>
              </a:rPr>
              <a:t>: Provides high-resolution hazard maps that can directly assist in landing site selection and navigation.</a:t>
            </a:r>
            <a:endParaRPr lang="en-US" altLang="en-US" dirty="0">
              <a:solidFill>
                <a:schemeClr val="tx1"/>
              </a:solidFill>
              <a:latin typeface="Sitka Small" pitchFamily="2" charset="0"/>
            </a:endParaRPr>
          </a:p>
        </p:txBody>
      </p:sp>
    </p:spTree>
    <p:extLst>
      <p:ext uri="{BB962C8B-B14F-4D97-AF65-F5344CB8AC3E}">
        <p14:creationId xmlns:p14="http://schemas.microsoft.com/office/powerpoint/2010/main" val="2000455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3" name="Rectangle 2">
            <a:extLst>
              <a:ext uri="{FF2B5EF4-FFF2-40B4-BE49-F238E27FC236}">
                <a16:creationId xmlns:a16="http://schemas.microsoft.com/office/drawing/2014/main" id="{36726A76-3131-1F18-AFE2-577ADABD4BF3}"/>
              </a:ext>
            </a:extLst>
          </p:cNvPr>
          <p:cNvSpPr>
            <a:spLocks noChangeArrowheads="1"/>
          </p:cNvSpPr>
          <p:nvPr/>
        </p:nvSpPr>
        <p:spPr bwMode="auto">
          <a:xfrm>
            <a:off x="206478" y="1170993"/>
            <a:ext cx="11779044"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400" b="1" dirty="0"/>
              <a:t>High landing risk</a:t>
            </a:r>
            <a:r>
              <a:rPr lang="en-US" sz="2400" dirty="0"/>
              <a:t>: Mars landers face uncertainty due to hazards like boulders, craters, steep slopes, and uneven terrain.</a:t>
            </a:r>
            <a:endParaRPr lang="en-US" sz="2400" b="1" dirty="0">
              <a:solidFill>
                <a:schemeClr val="tx1"/>
              </a:solidFill>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1"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400" b="1" dirty="0"/>
              <a:t>Data limitations</a:t>
            </a:r>
            <a:r>
              <a:rPr lang="en-US" sz="2400" dirty="0"/>
              <a:t>: Although HiRISE provides high-resolution stereo imagery, not all Martian regions have 1 m DTMs available. Many areas only have 5 m resolution.</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sz="2400" dirty="0"/>
          </a:p>
          <a:p>
            <a:pPr marL="285750" lvl="0" indent="-285750" eaLnBrk="0" fontAlgn="base" hangingPunct="0">
              <a:spcBef>
                <a:spcPct val="0"/>
              </a:spcBef>
              <a:spcAft>
                <a:spcPct val="0"/>
              </a:spcAft>
              <a:buClrTx/>
              <a:buFont typeface="Arial" panose="020B0604020202020204" pitchFamily="34" charset="0"/>
              <a:buChar char="•"/>
            </a:pPr>
            <a:r>
              <a:rPr lang="en-US" sz="2400" b="1" dirty="0"/>
              <a:t>Safe landing requirements</a:t>
            </a:r>
            <a:r>
              <a:rPr lang="en-US" sz="2400" dirty="0"/>
              <a:t>: Autonomous landing systems require flat, obstacle-free zones of ~20 × 20 m or larger. Small hazards that are undetectable in 5 m resolution can still endanger landers.</a:t>
            </a:r>
          </a:p>
          <a:p>
            <a:pPr marL="285750" lvl="0" indent="-285750" eaLnBrk="0" fontAlgn="base" hangingPunct="0">
              <a:spcBef>
                <a:spcPct val="0"/>
              </a:spcBef>
              <a:spcAft>
                <a:spcPct val="0"/>
              </a:spcAft>
              <a:buClrTx/>
              <a:buFont typeface="Arial" panose="020B0604020202020204" pitchFamily="34" charset="0"/>
              <a:buChar char="•"/>
            </a:pPr>
            <a:endParaRPr lang="en-US" sz="2400" dirty="0"/>
          </a:p>
          <a:p>
            <a:pPr marL="285750" lvl="0" indent="-285750" eaLnBrk="0" fontAlgn="base" hangingPunct="0">
              <a:spcBef>
                <a:spcPct val="0"/>
              </a:spcBef>
              <a:spcAft>
                <a:spcPct val="0"/>
              </a:spcAft>
              <a:buClrTx/>
              <a:buFont typeface="Arial" panose="020B0604020202020204" pitchFamily="34" charset="0"/>
              <a:buChar char="•"/>
            </a:pPr>
            <a:r>
              <a:rPr lang="en-US" sz="2400" b="1" dirty="0"/>
              <a:t>Mission failures</a:t>
            </a:r>
            <a:r>
              <a:rPr lang="en-US" sz="2400" dirty="0"/>
              <a:t>: Past missions have faced difficulties due to terrain hazards, highlighting the need for accurate hazard detection.</a:t>
            </a:r>
          </a:p>
          <a:p>
            <a:pPr marL="285750" lvl="0" indent="-285750" eaLnBrk="0" fontAlgn="base" hangingPunct="0">
              <a:spcBef>
                <a:spcPct val="0"/>
              </a:spcBef>
              <a:spcAft>
                <a:spcPct val="0"/>
              </a:spcAft>
              <a:buClrTx/>
              <a:buFont typeface="Arial" panose="020B0604020202020204" pitchFamily="34" charset="0"/>
              <a:buChar char="•"/>
            </a:pPr>
            <a:endParaRPr lang="en-US" sz="2400" dirty="0"/>
          </a:p>
          <a:p>
            <a:pPr lvl="0" eaLnBrk="0" fontAlgn="base" hangingPunct="0">
              <a:spcBef>
                <a:spcPct val="0"/>
              </a:spcBef>
              <a:spcAft>
                <a:spcPct val="0"/>
              </a:spcAft>
              <a:buClrTx/>
            </a:pPr>
            <a:endParaRPr kumimoji="0" lang="en-US" altLang="en-US" sz="18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196645" y="1143000"/>
            <a:ext cx="11877368" cy="4953000"/>
          </a:xfrm>
          <a:prstGeom prst="rect">
            <a:avLst/>
          </a:prstGeom>
          <a:noFill/>
          <a:ln>
            <a:noFill/>
          </a:ln>
        </p:spPr>
        <p:txBody>
          <a:bodyPr spcFirstLastPara="1" wrap="square" lIns="91425" tIns="45700" rIns="91425" bIns="45700" anchor="t" anchorCtr="0">
            <a:normAutofit/>
          </a:bodyPr>
          <a:lstStyle/>
          <a:p>
            <a:r>
              <a:rPr lang="en-US" b="1" dirty="0">
                <a:latin typeface="+mn-lt"/>
              </a:rPr>
              <a:t>Improves hazard detection</a:t>
            </a:r>
            <a:r>
              <a:rPr lang="en-US" dirty="0">
                <a:latin typeface="+mn-lt"/>
              </a:rPr>
              <a:t>: Enables identification of small rocks, minor slopes, and roughness that would otherwise be missed.</a:t>
            </a:r>
          </a:p>
          <a:p>
            <a:endParaRPr lang="en-US" dirty="0">
              <a:latin typeface="+mn-lt"/>
            </a:endParaRPr>
          </a:p>
          <a:p>
            <a:r>
              <a:rPr lang="en-US" b="1" dirty="0">
                <a:latin typeface="+mn-lt"/>
              </a:rPr>
              <a:t>Better decision-making</a:t>
            </a:r>
            <a:r>
              <a:rPr lang="en-US" dirty="0">
                <a:latin typeface="+mn-lt"/>
              </a:rPr>
              <a:t>: Generates more reliable hazard maps, reducing risk during entry, descent, and landing (EDL).</a:t>
            </a:r>
          </a:p>
          <a:p>
            <a:endParaRPr lang="en-US" dirty="0">
              <a:latin typeface="+mn-lt"/>
            </a:endParaRPr>
          </a:p>
          <a:p>
            <a:r>
              <a:rPr lang="en-US" b="1" dirty="0">
                <a:latin typeface="+mn-lt"/>
              </a:rPr>
              <a:t>Cost-effective solution</a:t>
            </a:r>
            <a:r>
              <a:rPr lang="en-US" dirty="0">
                <a:latin typeface="+mn-lt"/>
              </a:rPr>
              <a:t>: Instead of waiting for new missions to capture 1 m DEMs everywhere, AI-driven super-resolution can enhance existing 5 m data.</a:t>
            </a:r>
          </a:p>
          <a:p>
            <a:endParaRPr lang="en-US" dirty="0">
              <a:latin typeface="+mn-lt"/>
            </a:endParaRPr>
          </a:p>
          <a:p>
            <a:r>
              <a:rPr lang="en-US" b="1" dirty="0">
                <a:latin typeface="+mn-lt"/>
              </a:rPr>
              <a:t>Scalability</a:t>
            </a:r>
            <a:r>
              <a:rPr lang="en-US" dirty="0">
                <a:latin typeface="+mn-lt"/>
              </a:rPr>
              <a:t>: Once validated, this method can be applied to large areas of Mars or other planetary surfaces (Moon, asteroids) where fine-scale DEMs are missing.</a:t>
            </a:r>
            <a:endParaRPr lang="en-IN" dirty="0">
              <a:latin typeface="+mn-lt"/>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hlinkClick r:id="rId3"/>
              </a:rPr>
              <a:t>High-Resolution_Hazard_Mapping_for_Lander_Navigation_Using_Super-Resolution_Techniques</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ACF62E11-7A80-9A77-977E-244D18901310}"/>
              </a:ext>
            </a:extLst>
          </p:cNvPr>
          <p:cNvPicPr>
            <a:picLocks noChangeAspect="1"/>
          </p:cNvPicPr>
          <p:nvPr/>
        </p:nvPicPr>
        <p:blipFill>
          <a:blip r:embed="rId3"/>
          <a:stretch>
            <a:fillRect/>
          </a:stretch>
        </p:blipFill>
        <p:spPr>
          <a:xfrm>
            <a:off x="1186165" y="1254493"/>
            <a:ext cx="9513243" cy="4716650"/>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r>
              <a:rPr lang="en-IN" sz="2000" dirty="0"/>
              <a:t>[1] McEwen, A. S., et al. (2007). </a:t>
            </a:r>
            <a:r>
              <a:rPr lang="en-IN" sz="2000" i="1" dirty="0"/>
              <a:t>Mars Reconnaissance Orbiter’s High Resolution Imaging Science Experiment (HiRISE)</a:t>
            </a:r>
            <a:r>
              <a:rPr lang="en-IN" sz="2000" dirty="0"/>
              <a:t>. Journal of Geophysical Research: Planets, 112(E5).</a:t>
            </a:r>
          </a:p>
          <a:p>
            <a:r>
              <a:rPr lang="en-IN" sz="2000" dirty="0"/>
              <a:t>[2] Mattson, S., et al. (2019). </a:t>
            </a:r>
            <a:r>
              <a:rPr lang="en-IN" sz="2000" i="1" dirty="0"/>
              <a:t>HiRISE Digital Terrain Models (DTMs) derived from stereo pairs</a:t>
            </a:r>
            <a:r>
              <a:rPr lang="en-IN" sz="2000" dirty="0"/>
              <a:t>. NASA PDS.</a:t>
            </a:r>
          </a:p>
          <a:p>
            <a:r>
              <a:rPr lang="en-IN" sz="2000" dirty="0"/>
              <a:t>[3] </a:t>
            </a:r>
            <a:r>
              <a:rPr lang="en-US" sz="2000" dirty="0"/>
              <a:t>Golombek, M. P., et al. (2012). </a:t>
            </a:r>
            <a:r>
              <a:rPr lang="en-US" sz="2000" i="1" dirty="0"/>
              <a:t>Selection of the Mars Science Laboratory landing site</a:t>
            </a:r>
            <a:r>
              <a:rPr lang="en-US" sz="2000" dirty="0"/>
              <a:t>. Space Science Reviews, 170(1-4), 641–737.</a:t>
            </a:r>
          </a:p>
          <a:p>
            <a:r>
              <a:rPr lang="en-IN" sz="2000" dirty="0"/>
              <a:t>[4] </a:t>
            </a:r>
            <a:r>
              <a:rPr lang="en-US" sz="2000" dirty="0"/>
              <a:t>Fergason, R. L., et al. (2020). </a:t>
            </a:r>
            <a:r>
              <a:rPr lang="en-US" sz="2000" i="1" dirty="0"/>
              <a:t>Surface properties of the </a:t>
            </a:r>
            <a:r>
              <a:rPr lang="en-US" sz="2000" i="1" dirty="0" err="1"/>
              <a:t>InSight</a:t>
            </a:r>
            <a:r>
              <a:rPr lang="en-US" sz="2000" i="1" dirty="0"/>
              <a:t> landing site</a:t>
            </a:r>
            <a:r>
              <a:rPr lang="en-US" sz="2000" dirty="0"/>
              <a:t>. Nature Geoscience, 13, 183–189.</a:t>
            </a:r>
          </a:p>
          <a:p>
            <a:r>
              <a:rPr lang="en-IN" sz="2000" dirty="0"/>
              <a:t>[5] </a:t>
            </a:r>
            <a:r>
              <a:rPr lang="en-US" sz="2000" dirty="0"/>
              <a:t>Mandt, K. E., et al. (2021). </a:t>
            </a:r>
            <a:r>
              <a:rPr lang="en-US" sz="2000" i="1" dirty="0"/>
              <a:t>Hazard analysis for landing sites on Mars</a:t>
            </a:r>
            <a:r>
              <a:rPr lang="en-US" sz="2000" dirty="0"/>
              <a:t>. Planetary and Space Science, 199, 105197.</a:t>
            </a:r>
          </a:p>
          <a:p>
            <a:endParaRPr lang="en-IN"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739</TotalTime>
  <Words>1057</Words>
  <Application>Microsoft Office PowerPoint</Application>
  <PresentationFormat>Widescreen</PresentationFormat>
  <Paragraphs>98</Paragraphs>
  <Slides>13</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Cambria</vt:lpstr>
      <vt:lpstr>Sitka Small</vt:lpstr>
      <vt:lpstr>Verdana</vt:lpstr>
      <vt:lpstr>Wingdings</vt:lpstr>
      <vt:lpstr>Bioinformatics</vt:lpstr>
      <vt:lpstr>Generation of Hazard Map at 1M grid Spacing using 5M spatial resolution data for Safely Navigating a Lander to a Safe Landing site using Super Resolution Techniques</vt:lpstr>
      <vt:lpstr>Content</vt:lpstr>
      <vt:lpstr>Problem Statement Number: PSCS_174</vt:lpstr>
      <vt:lpstr>Objectives:</vt:lpstr>
      <vt:lpstr>Objectives:   (contd…) </vt:lpstr>
      <vt:lpstr>Background and Related work: </vt:lpstr>
      <vt:lpstr>Innovation or Novel Contributions</vt:lpstr>
      <vt:lpstr>Analysis of Problem Statement</vt:lpstr>
      <vt:lpstr>Analysis of Problem Statement (contd...)</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admin</cp:lastModifiedBy>
  <cp:revision>47</cp:revision>
  <dcterms:modified xsi:type="dcterms:W3CDTF">2025-08-20T09:51:10Z</dcterms:modified>
</cp:coreProperties>
</file>